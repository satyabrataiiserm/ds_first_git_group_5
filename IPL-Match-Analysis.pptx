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90" r:id="rId1"/>
  </p:sldMasterIdLst>
  <p:notesMasterIdLst>
    <p:notesMasterId r:id="rId17"/>
  </p:notesMasterIdLst>
  <p:sldIdLst>
    <p:sldId id="256" r:id="rId2"/>
    <p:sldId id="257" r:id="rId3"/>
    <p:sldId id="258" r:id="rId4"/>
    <p:sldId id="260" r:id="rId5"/>
    <p:sldId id="259" r:id="rId6"/>
    <p:sldId id="262" r:id="rId7"/>
    <p:sldId id="266" r:id="rId8"/>
    <p:sldId id="261" r:id="rId9"/>
    <p:sldId id="263" r:id="rId10"/>
    <p:sldId id="267" r:id="rId11"/>
    <p:sldId id="264" r:id="rId12"/>
    <p:sldId id="268" r:id="rId13"/>
    <p:sldId id="265" r:id="rId14"/>
    <p:sldId id="269" r:id="rId15"/>
    <p:sldId id="270" r:id="rId16"/>
  </p:sldIdLst>
  <p:sldSz cx="12192000" cy="6858000"/>
  <p:notesSz cx="6858000" cy="12192000"/>
  <p:embeddedFontLst>
    <p:embeddedFont>
      <p:font typeface="Rubik ExtraBold" panose="020B0604020202020204" charset="-79"/>
      <p:regular r:id="rId18"/>
    </p:embeddedFont>
    <p:embeddedFont>
      <p:font typeface="Rubik SemiBold" panose="020B0604020202020204" charset="-79"/>
      <p:regular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Georgia" panose="02040502050405020303" pitchFamily="18" charset="0"/>
      <p:regular r:id="rId24"/>
      <p:bold r:id="rId25"/>
      <p:italic r:id="rId26"/>
      <p:boldItalic r:id="rId27"/>
    </p:embeddedFont>
    <p:embeddedFont>
      <p:font typeface="Assistant" panose="020B0604020202020204" charset="-79"/>
      <p:regular r:id="rId28"/>
    </p:embeddedFont>
    <p:embeddedFont>
      <p:font typeface="Assistant SemiBold" panose="020B0604020202020204" charset="-79"/>
      <p:regular r:id="rId29"/>
    </p:embeddedFont>
    <p:embeddedFont>
      <p:font typeface="Trebuchet MS" panose="020B0603020202020204" pitchFamily="34" charset="0"/>
      <p:regular r:id="rId30"/>
      <p:bold r:id="rId31"/>
      <p:italic r:id="rId32"/>
      <p:boldItalic r:id="rId33"/>
    </p:embeddedFont>
    <p:embeddedFont>
      <p:font typeface="Wingdings 3" panose="05040102010807070707" pitchFamily="18" charset="2"/>
      <p:regular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5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6126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15245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86968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89093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10/25/2026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26320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8719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93643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643937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10/25/2026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30604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46512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043813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8246369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82595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335385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14258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10/25/2026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25821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54038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76923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2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8011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1195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  <p:sldLayoutId id="2147483708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7866" y="2648446"/>
            <a:ext cx="10381204" cy="192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7200" dirty="0">
                <a:latin typeface="Rubik ExtraBold" pitchFamily="34" charset="0"/>
                <a:ea typeface="Rubik ExtraBold" pitchFamily="34" charset="-122"/>
                <a:cs typeface="Rubik ExtraBold" pitchFamily="34" charset="0"/>
              </a:rPr>
              <a:t>IPL </a:t>
            </a:r>
            <a:r>
              <a:rPr lang="en-US" sz="7200" dirty="0" smtClean="0">
                <a:latin typeface="Rubik ExtraBold" pitchFamily="34" charset="0"/>
                <a:ea typeface="Rubik ExtraBold" pitchFamily="34" charset="-122"/>
                <a:cs typeface="Rubik ExtraBold" pitchFamily="34" charset="0"/>
              </a:rPr>
              <a:t>Match</a:t>
            </a:r>
            <a:r>
              <a:rPr lang="en-US" sz="7200" dirty="0"/>
              <a:t> </a:t>
            </a:r>
            <a:r>
              <a:rPr lang="en-US" sz="7200" dirty="0" smtClean="0">
                <a:latin typeface="Rubik ExtraBold" pitchFamily="34" charset="0"/>
                <a:ea typeface="Rubik ExtraBold" pitchFamily="34" charset="-122"/>
                <a:cs typeface="Rubik ExtraBold" pitchFamily="34" charset="0"/>
              </a:rPr>
              <a:t>Analysis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168371" y="3608487"/>
            <a:ext cx="754361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9585" y="2118103"/>
            <a:ext cx="5912992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000" dirty="0">
                <a:solidFill>
                  <a:srgbClr val="1B2632"/>
                </a:solidFill>
                <a:latin typeface="Rubik SemiBold" pitchFamily="34" charset="0"/>
                <a:ea typeface="Rubik SemiBold" pitchFamily="34" charset="-122"/>
                <a:cs typeface="Rubik SemiBold" pitchFamily="34" charset="0"/>
              </a:rPr>
              <a:t>1,169 matches reveal a league shaped by small edges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09585" y="4079180"/>
            <a:ext cx="6522577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dirty="0">
                <a:solidFill>
                  <a:srgbClr val="3A4756"/>
                </a:solidFill>
                <a:latin typeface="Assistant" pitchFamily="34" charset="0"/>
                <a:ea typeface="Assistant" pitchFamily="34" charset="-122"/>
                <a:cs typeface="Assistant" pitchFamily="34" charset="0"/>
              </a:rPr>
              <a:t>278,205 deliveries across 1,169 unique matches.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09585" y="4640768"/>
            <a:ext cx="59129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rgbClr val="536270"/>
                </a:solidFill>
                <a:latin typeface="Assistant" pitchFamily="34" charset="0"/>
                <a:ea typeface="Assistant" pitchFamily="34" charset="-122"/>
                <a:cs typeface="Assistant" pitchFamily="34" charset="0"/>
              </a:rPr>
              <a:t>The analysis asks where advantage actually comes from: toss value, chasing advantage, team strength, venue effect, and player impact.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36855" y="0"/>
            <a:ext cx="4754840" cy="3713559"/>
          </a:xfrm>
          <a:prstGeom prst="rect">
            <a:avLst/>
          </a:prstGeom>
          <a:solidFill>
            <a:srgbClr val="E4EAEF"/>
          </a:solidFill>
          <a:ln/>
        </p:spPr>
      </p:sp>
      <p:sp>
        <p:nvSpPr>
          <p:cNvPr id="7" name="Text 5"/>
          <p:cNvSpPr/>
          <p:nvPr/>
        </p:nvSpPr>
        <p:spPr>
          <a:xfrm>
            <a:off x="7716248" y="280353"/>
            <a:ext cx="4475447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3A4756"/>
                </a:solidFill>
                <a:latin typeface="Assistant SemiBold" pitchFamily="34" charset="0"/>
                <a:ea typeface="Assistant SemiBold" pitchFamily="34" charset="-122"/>
                <a:cs typeface="Assistant SemiBold" pitchFamily="34" charset="0"/>
              </a:rPr>
              <a:t>DELIVERIES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16248" y="622508"/>
            <a:ext cx="4196054" cy="74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5600" dirty="0">
                <a:solidFill>
                  <a:srgbClr val="3A4756"/>
                </a:solidFill>
                <a:latin typeface="Rubik ExtraBold" pitchFamily="34" charset="0"/>
                <a:ea typeface="Rubik ExtraBold" pitchFamily="34" charset="-122"/>
                <a:cs typeface="Rubik ExtraBold" pitchFamily="34" charset="0"/>
              </a:rPr>
              <a:t>278,205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7716248" y="1535013"/>
            <a:ext cx="4475447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50" dirty="0">
                <a:solidFill>
                  <a:srgbClr val="3A4756"/>
                </a:solidFill>
                <a:latin typeface="Assistant" pitchFamily="34" charset="0"/>
                <a:ea typeface="Assistant" pitchFamily="34" charset="-122"/>
                <a:cs typeface="Assistant" pitchFamily="34" charset="0"/>
              </a:rPr>
              <a:t>Across the dataset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436855" y="4044764"/>
            <a:ext cx="4754840" cy="28397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7716248" y="4298613"/>
            <a:ext cx="4475447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ssistant SemiBold" pitchFamily="34" charset="0"/>
                <a:ea typeface="Assistant SemiBold" pitchFamily="34" charset="-122"/>
                <a:cs typeface="Assistant SemiBold" pitchFamily="34" charset="0"/>
              </a:rPr>
              <a:t>QUESTIONS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16248" y="4640768"/>
            <a:ext cx="4196054" cy="74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5600" dirty="0">
                <a:solidFill>
                  <a:srgbClr val="FFFFFF"/>
                </a:solidFill>
                <a:latin typeface="Rubik ExtraBold" pitchFamily="34" charset="0"/>
                <a:ea typeface="Rubik ExtraBold" pitchFamily="34" charset="-122"/>
                <a:cs typeface="Rubik ExtraBold" pitchFamily="34" charset="0"/>
              </a:rPr>
              <a:t>5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11843247" y="6448425"/>
            <a:ext cx="34844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Assistant" pitchFamily="34" charset="0"/>
                <a:ea typeface="Assistant" pitchFamily="34" charset="-122"/>
                <a:cs typeface="Assistant" pitchFamily="34" charset="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5853" y="253221"/>
            <a:ext cx="3301917" cy="714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4000" b="1" dirty="0">
                <a:latin typeface="Rubik SemiBold" panose="020B0604020202020204" charset="-79"/>
                <a:ea typeface="Assistant SemiBold" pitchFamily="34" charset="-122"/>
                <a:cs typeface="Rubik SemiBold" panose="020B0604020202020204" charset="-79"/>
              </a:rPr>
              <a:t>TOSS VALUE</a:t>
            </a:r>
            <a:endParaRPr lang="en-US" sz="4000" b="1" dirty="0">
              <a:latin typeface="Rubik SemiBold" panose="020B0604020202020204" charset="-79"/>
              <a:cs typeface="Rubik SemiBold" panose="020B0604020202020204" charset="-79"/>
            </a:endParaRPr>
          </a:p>
        </p:txBody>
      </p:sp>
      <p:sp>
        <p:nvSpPr>
          <p:cNvPr id="5" name="Text 3"/>
          <p:cNvSpPr/>
          <p:nvPr/>
        </p:nvSpPr>
        <p:spPr>
          <a:xfrm>
            <a:off x="7043562" y="2230745"/>
            <a:ext cx="2692333" cy="2107836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dirty="0">
                <a:latin typeface="Georgia" panose="02040502050405020303" pitchFamily="18" charset="0"/>
                <a:ea typeface="Assistant" pitchFamily="34" charset="-122"/>
                <a:cs typeface="Assistant" pitchFamily="34" charset="0"/>
              </a:rPr>
              <a:t>The toss creates a decision point, but not a reliable outcome.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77887" y="5706589"/>
            <a:ext cx="7704055" cy="746040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400" dirty="0">
                <a:solidFill>
                  <a:srgbClr val="FF0000"/>
                </a:solidFill>
                <a:latin typeface="Georgia" panose="02040502050405020303" pitchFamily="18" charset="0"/>
                <a:ea typeface="Assistant" pitchFamily="34" charset="-122"/>
                <a:cs typeface="Assistant" pitchFamily="34" charset="0"/>
              </a:rPr>
              <a:t>Toss winners win only slightly more often than they lose.</a:t>
            </a:r>
            <a:endParaRPr lang="en-US" sz="2400" dirty="0">
              <a:solidFill>
                <a:srgbClr val="FF0000"/>
              </a:solidFill>
              <a:latin typeface="Georgia" panose="02040502050405020303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1843247" y="6448425"/>
            <a:ext cx="34844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Assistant" pitchFamily="34" charset="0"/>
                <a:ea typeface="Assistant" pitchFamily="34" charset="-122"/>
                <a:cs typeface="Assistant" pitchFamily="34" charset="0"/>
              </a:rPr>
              <a:t>03</a:t>
            </a:r>
            <a:endParaRPr lang="en-US" sz="11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25" y="964246"/>
            <a:ext cx="6347538" cy="464083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 2"/>
          <p:cNvSpPr/>
          <p:nvPr/>
        </p:nvSpPr>
        <p:spPr>
          <a:xfrm>
            <a:off x="7035776" y="997633"/>
            <a:ext cx="2692333" cy="1892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latin typeface="Georgia" panose="02040502050405020303" pitchFamily="18" charset="0"/>
                <a:ea typeface="Assistant" pitchFamily="34" charset="-122"/>
                <a:cs typeface="Assistant" pitchFamily="34" charset="0"/>
              </a:rPr>
              <a:t>The toss winner also won the match in 50.56% of matches</a:t>
            </a:r>
            <a:r>
              <a:rPr lang="en-US" dirty="0">
                <a:solidFill>
                  <a:srgbClr val="3A4756"/>
                </a:solidFill>
                <a:latin typeface="Assistant" pitchFamily="34" charset="0"/>
                <a:ea typeface="Assistant" pitchFamily="34" charset="-122"/>
                <a:cs typeface="Assistant" pitchFamily="34" charset="0"/>
              </a:rPr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5257668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4000" b="1" dirty="0">
                <a:latin typeface="Rubik SemiBold" panose="020B0604020202020204" charset="-79"/>
                <a:ea typeface="Assistant SemiBold" pitchFamily="34" charset="-122"/>
                <a:cs typeface="Rubik SemiBold" panose="020B0604020202020204" charset="-79"/>
              </a:rPr>
              <a:t>TOSS DECISION</a:t>
            </a:r>
            <a:endParaRPr lang="en-US" sz="4000" b="1" dirty="0">
              <a:latin typeface="Rubik SemiBold" panose="020B0604020202020204" charset="-79"/>
              <a:cs typeface="Rubik SemiBold" panose="020B0604020202020204" charset="-79"/>
            </a:endParaRPr>
          </a:p>
        </p:txBody>
      </p:sp>
      <p:sp>
        <p:nvSpPr>
          <p:cNvPr id="6" name="Text 3"/>
          <p:cNvSpPr/>
          <p:nvPr/>
        </p:nvSpPr>
        <p:spPr>
          <a:xfrm>
            <a:off x="6097658" y="4835525"/>
            <a:ext cx="3452742" cy="330200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Georgia" panose="02040502050405020303" pitchFamily="18" charset="0"/>
                <a:ea typeface="Assistant" pitchFamily="34" charset="-122"/>
                <a:cs typeface="Assistant" pitchFamily="34" charset="0"/>
              </a:rPr>
              <a:t>Choosing to field aligns with a higher toss-winner win rate.</a:t>
            </a:r>
            <a:endParaRPr lang="en-US" dirty="0">
              <a:solidFill>
                <a:srgbClr val="FF0000"/>
              </a:solidFill>
              <a:latin typeface="Georgia" panose="02040502050405020303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1843247" y="6448425"/>
            <a:ext cx="34844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Assistant" pitchFamily="34" charset="0"/>
                <a:ea typeface="Assistant" pitchFamily="34" charset="-122"/>
                <a:cs typeface="Assistant" pitchFamily="34" charset="0"/>
              </a:rPr>
              <a:t>05</a:t>
            </a:r>
            <a:endParaRPr lang="en-US" sz="11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436" y="1399397"/>
            <a:ext cx="5172075" cy="471882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 2"/>
          <p:cNvSpPr/>
          <p:nvPr/>
        </p:nvSpPr>
        <p:spPr>
          <a:xfrm>
            <a:off x="6097658" y="1434534"/>
            <a:ext cx="3605142" cy="2032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  <a:spcAft>
                <a:spcPts val="1500"/>
              </a:spcAft>
            </a:pPr>
            <a:r>
              <a:rPr lang="en-US" dirty="0">
                <a:latin typeface="Georgia" panose="02040502050405020303" pitchFamily="18" charset="0"/>
                <a:ea typeface="Assistant" pitchFamily="34" charset="-122"/>
                <a:cs typeface="Assistant" pitchFamily="34" charset="0"/>
              </a:rPr>
              <a:t>Fielding first was chosen in 764 tosses versus 405 decisions to bat</a:t>
            </a:r>
            <a:r>
              <a:rPr lang="en-US" dirty="0">
                <a:latin typeface="Georgia" panose="02040502050405020303" pitchFamily="18" charset="0"/>
                <a:ea typeface="Assistant" pitchFamily="34" charset="-122"/>
                <a:cs typeface="Assistant" pitchFamily="34" charset="0"/>
              </a:rPr>
              <a:t>. Captains field first in about two of every three matches, and those sides win more often.</a:t>
            </a:r>
            <a:endParaRPr lang="en-US" dirty="0">
              <a:latin typeface="Georgia" panose="02040502050405020303" pitchFamily="18" charset="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latin typeface="Georgia" panose="02040502050405020303" pitchFamily="18" charset="0"/>
                <a:ea typeface="Assistant" pitchFamily="34" charset="-122"/>
                <a:cs typeface="Assistant" pitchFamily="34" charset="0"/>
              </a:rPr>
              <a:t>When teams chose to field, the toss winner won 53.40% of matches. When teams chose to bat, that figure fell to 45.19%.</a:t>
            </a:r>
            <a:endParaRPr lang="en-US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9085" y="326709"/>
            <a:ext cx="10972526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96000"/>
              </a:lnSpc>
            </a:pPr>
            <a:r>
              <a:rPr lang="en-US" sz="4000" dirty="0">
                <a:solidFill>
                  <a:srgbClr val="1B2632"/>
                </a:solidFill>
                <a:latin typeface="Rubik SemiBold" pitchFamily="34" charset="0"/>
                <a:ea typeface="Rubik SemiBold" pitchFamily="34" charset="-122"/>
                <a:cs typeface="Rubik SemiBold" pitchFamily="34" charset="0"/>
              </a:rPr>
              <a:t>Batting first vs chasing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184885" y="1516323"/>
            <a:ext cx="3543315" cy="1641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000" dirty="0">
                <a:latin typeface="Georgia" panose="02040502050405020303" pitchFamily="18" charset="0"/>
                <a:ea typeface="Assistant" pitchFamily="34" charset="-122"/>
                <a:cs typeface="Assistant" pitchFamily="34" charset="0"/>
              </a:rPr>
              <a:t>Chasing wins 615 matches, or 52.6%. Batting first wins 531 matches, or 45.4%. No result or tied: 23 matches, or 2.0%.</a:t>
            </a:r>
            <a:endParaRPr lang="en-US" sz="2000" dirty="0">
              <a:latin typeface="Georgia" panose="0204050205040502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184885" y="3399351"/>
            <a:ext cx="3543315" cy="1027531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Georgia" panose="02040502050405020303" pitchFamily="18" charset="0"/>
                <a:ea typeface="Assistant" pitchFamily="34" charset="-122"/>
                <a:cs typeface="Assistant" pitchFamily="34" charset="0"/>
              </a:rPr>
              <a:t>Chasing wins a</a:t>
            </a:r>
            <a:r>
              <a:rPr lang="en-US" b="1" dirty="0" smtClean="0">
                <a:solidFill>
                  <a:srgbClr val="FF0000"/>
                </a:solidFill>
                <a:latin typeface="Georgia" panose="02040502050405020303" pitchFamily="18" charset="0"/>
                <a:ea typeface="Assistant" pitchFamily="34" charset="-122"/>
                <a:cs typeface="Assistant" pitchFamily="34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Georgia" panose="02040502050405020303" pitchFamily="18" charset="0"/>
                <a:ea typeface="Assistant" pitchFamily="34" charset="-122"/>
                <a:cs typeface="Assistant" pitchFamily="34" charset="0"/>
              </a:rPr>
              <a:t>modest majority of completed matches.</a:t>
            </a:r>
            <a:endParaRPr lang="en-US" b="1" dirty="0">
              <a:solidFill>
                <a:srgbClr val="FF0000"/>
              </a:solidFill>
              <a:latin typeface="Georgia" panose="02040502050405020303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1843247" y="6448425"/>
            <a:ext cx="34844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Assistant" pitchFamily="34" charset="0"/>
                <a:ea typeface="Assistant" pitchFamily="34" charset="-122"/>
                <a:cs typeface="Assistant" pitchFamily="34" charset="0"/>
              </a:rPr>
              <a:t>04</a:t>
            </a:r>
            <a:endParaRPr lang="en-US" sz="11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773" y="1151514"/>
            <a:ext cx="5362575" cy="478155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38163" y="326709"/>
            <a:ext cx="10972526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96000"/>
              </a:lnSpc>
            </a:pPr>
            <a:r>
              <a:rPr lang="en-IN" sz="4000" dirty="0">
                <a:latin typeface="Rubik SemiBold" panose="020B0604020202020204" charset="-79"/>
                <a:cs typeface="Rubik SemiBold" panose="020B0604020202020204" charset="-79"/>
              </a:rPr>
              <a:t>Total wins per franchise</a:t>
            </a:r>
            <a:endParaRPr lang="en-US" sz="4000" dirty="0">
              <a:latin typeface="Rubik SemiBold" panose="020B0604020202020204" charset="-79"/>
              <a:cs typeface="Rubik SemiBold" panose="020B0604020202020204" charset="-79"/>
            </a:endParaRPr>
          </a:p>
        </p:txBody>
      </p:sp>
      <p:sp>
        <p:nvSpPr>
          <p:cNvPr id="5" name="Text 2"/>
          <p:cNvSpPr/>
          <p:nvPr/>
        </p:nvSpPr>
        <p:spPr>
          <a:xfrm>
            <a:off x="7523164" y="1495109"/>
            <a:ext cx="2103436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latin typeface="Georgia" panose="02040502050405020303" pitchFamily="18" charset="0"/>
                <a:ea typeface="Assistant" pitchFamily="34" charset="-122"/>
                <a:cs typeface="Assistant" pitchFamily="34" charset="0"/>
              </a:rPr>
              <a:t>Mumbai Indians led total wins at approximately 150; Chennai Super Kings followed at approximately 141; Kolkata Knight Riders were next at approximately 135 wins.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1843247" y="6448425"/>
            <a:ext cx="34844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Assistant" pitchFamily="34" charset="0"/>
                <a:ea typeface="Assistant" pitchFamily="34" charset="-122"/>
                <a:cs typeface="Assistant" pitchFamily="34" charset="0"/>
              </a:rPr>
              <a:t>07</a:t>
            </a:r>
            <a:endParaRPr lang="en-US" sz="11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744"/>
          <a:stretch/>
        </p:blipFill>
        <p:spPr>
          <a:xfrm>
            <a:off x="190500" y="1164909"/>
            <a:ext cx="6985001" cy="495331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850" y="1831975"/>
            <a:ext cx="8839200" cy="45148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 2"/>
          <p:cNvSpPr/>
          <p:nvPr/>
        </p:nvSpPr>
        <p:spPr>
          <a:xfrm>
            <a:off x="342900" y="184835"/>
            <a:ext cx="93091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dirty="0" smtClean="0">
                <a:latin typeface="Rubik SemiBold" panose="020B0604020202020204" charset="-79"/>
                <a:cs typeface="Rubik SemiBold" panose="020B0604020202020204" charset="-79"/>
              </a:rPr>
              <a:t>Top </a:t>
            </a:r>
            <a:r>
              <a:rPr lang="en-US" sz="4000" dirty="0">
                <a:latin typeface="Rubik SemiBold" panose="020B0604020202020204" charset="-79"/>
                <a:cs typeface="Rubik SemiBold" panose="020B0604020202020204" charset="-79"/>
              </a:rPr>
              <a:t>10 stadiums by matches </a:t>
            </a:r>
            <a:r>
              <a:rPr lang="en-US" sz="4000" dirty="0" smtClean="0">
                <a:latin typeface="Rubik SemiBold" panose="020B0604020202020204" charset="-79"/>
                <a:cs typeface="Rubik SemiBold" panose="020B0604020202020204" charset="-79"/>
              </a:rPr>
              <a:t>hosted</a:t>
            </a:r>
            <a:endParaRPr lang="en-IN" sz="4000" dirty="0">
              <a:latin typeface="Rubik SemiBold" panose="020B0604020202020204" charset="-79"/>
              <a:cs typeface="Rubik SemiBold" panose="020B0604020202020204" charset="-79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77850" y="1039182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≈125matches at </a:t>
            </a:r>
            <a:r>
              <a:rPr lang="en-US" dirty="0" err="1" smtClean="0">
                <a:latin typeface="Georgia" panose="02040502050405020303" pitchFamily="18" charset="0"/>
              </a:rPr>
              <a:t>Wankhede</a:t>
            </a:r>
            <a:r>
              <a:rPr lang="en-US" dirty="0" smtClean="0">
                <a:latin typeface="Georgia" panose="02040502050405020303" pitchFamily="18" charset="0"/>
              </a:rPr>
              <a:t>, the </a:t>
            </a:r>
            <a:r>
              <a:rPr lang="en-US" dirty="0">
                <a:latin typeface="Georgia" panose="02040502050405020303" pitchFamily="18" charset="0"/>
              </a:rPr>
              <a:t>busiest ground.</a:t>
            </a:r>
            <a:endParaRPr lang="en-IN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4669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7985" y="427614"/>
            <a:ext cx="9829733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000" dirty="0">
                <a:solidFill>
                  <a:srgbClr val="1B2632"/>
                </a:solidFill>
                <a:latin typeface="Rubik SemiBold" pitchFamily="34" charset="0"/>
                <a:ea typeface="Rubik SemiBold" pitchFamily="34" charset="-122"/>
                <a:cs typeface="Rubik SemiBold" pitchFamily="34" charset="0"/>
              </a:rPr>
              <a:t>Home advantage is real, but it is not universal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1843247" y="6448425"/>
            <a:ext cx="34844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Assistant" pitchFamily="34" charset="0"/>
                <a:ea typeface="Assistant" pitchFamily="34" charset="-122"/>
                <a:cs typeface="Assistant" pitchFamily="34" charset="0"/>
              </a:rPr>
              <a:t>06</a:t>
            </a:r>
            <a:endParaRPr lang="en-US" sz="11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85" y="1692275"/>
            <a:ext cx="8662988" cy="45148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9585" y="453709"/>
            <a:ext cx="10972526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96000"/>
              </a:lnSpc>
            </a:pPr>
            <a:r>
              <a:rPr lang="en-US" sz="4000" dirty="0">
                <a:latin typeface="Rubik SemiBold" panose="020B0604020202020204" charset="-79"/>
                <a:cs typeface="Rubik SemiBold" panose="020B0604020202020204" charset="-79"/>
              </a:rPr>
              <a:t>Player of the match awards</a:t>
            </a:r>
            <a:endParaRPr lang="en-US" sz="4000" dirty="0">
              <a:latin typeface="Rubik SemiBold" panose="020B0604020202020204" charset="-79"/>
              <a:cs typeface="Rubik SemiBold" panose="020B0604020202020204" charset="-79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585" y="1075314"/>
            <a:ext cx="8940815" cy="2393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spcAft>
                <a:spcPts val="950"/>
              </a:spcAft>
              <a:buNone/>
            </a:pPr>
            <a:r>
              <a:rPr lang="en-US" dirty="0">
                <a:solidFill>
                  <a:srgbClr val="3A4756"/>
                </a:solidFill>
                <a:latin typeface="Georgia" panose="02040502050405020303" pitchFamily="18" charset="0"/>
                <a:ea typeface="Assistant" pitchFamily="34" charset="-122"/>
                <a:cs typeface="Assistant" pitchFamily="34" charset="0"/>
              </a:rPr>
              <a:t>AB de Villiers led the Player of the Match count with 25 awards. CH Gayle followed with approximately 22, then Rohit Sharma with approximately 21.</a:t>
            </a:r>
            <a:endParaRPr lang="en-US" dirty="0">
              <a:latin typeface="Georgia" panose="02040502050405020303" pitchFamily="18" charset="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solidFill>
                  <a:srgbClr val="3A4756"/>
                </a:solidFill>
                <a:latin typeface="Georgia" panose="02040502050405020303" pitchFamily="18" charset="0"/>
                <a:ea typeface="Assistant" pitchFamily="34" charset="-122"/>
                <a:cs typeface="Assistant" pitchFamily="34" charset="0"/>
              </a:rPr>
              <a:t>Virat Kohli, MS Dhoni, David Warner, and Sunil Narine also sit among the leading award winners.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1843247" y="6448425"/>
            <a:ext cx="34844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Assistant" pitchFamily="34" charset="0"/>
                <a:ea typeface="Assistant" pitchFamily="34" charset="-122"/>
                <a:cs typeface="Assistant" pitchFamily="34" charset="0"/>
              </a:rPr>
              <a:t>08</a:t>
            </a:r>
            <a:endParaRPr lang="en-US" sz="11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599314"/>
            <a:ext cx="8845550" cy="37814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5" y="990600"/>
            <a:ext cx="11258550" cy="55626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 2"/>
          <p:cNvSpPr/>
          <p:nvPr/>
        </p:nvSpPr>
        <p:spPr>
          <a:xfrm>
            <a:off x="466725" y="158234"/>
            <a:ext cx="751199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dirty="0">
                <a:latin typeface="Rubik SemiBold" panose="020B0604020202020204" charset="-79"/>
                <a:cs typeface="Rubik SemiBold" panose="020B0604020202020204" charset="-79"/>
              </a:rPr>
              <a:t>Top award winner per season</a:t>
            </a:r>
            <a:endParaRPr lang="en-IN" sz="4000" dirty="0">
              <a:latin typeface="Rubik SemiBold" panose="020B0604020202020204" charset="-79"/>
              <a:cs typeface="Rubik SemiBold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567652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93685" y="326709"/>
            <a:ext cx="10972526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96000"/>
              </a:lnSpc>
            </a:pPr>
            <a:r>
              <a:rPr lang="en-IN" sz="4000" b="1" cap="all" dirty="0">
                <a:latin typeface="Rubik SemiBold" panose="020B0604020202020204" charset="-79"/>
                <a:cs typeface="Rubik SemiBold" panose="020B0604020202020204" charset="-79"/>
              </a:rPr>
              <a:t>Matches per season</a:t>
            </a:r>
            <a:endParaRPr lang="en-US" sz="4000" dirty="0">
              <a:latin typeface="Rubik SemiBold" panose="020B0604020202020204" charset="-79"/>
              <a:cs typeface="Rubik SemiBold" panose="020B0604020202020204" charset="-79"/>
            </a:endParaRPr>
          </a:p>
        </p:txBody>
      </p:sp>
      <p:sp>
        <p:nvSpPr>
          <p:cNvPr id="5" name="Text 2"/>
          <p:cNvSpPr/>
          <p:nvPr/>
        </p:nvSpPr>
        <p:spPr>
          <a:xfrm>
            <a:off x="7891559" y="1985962"/>
            <a:ext cx="2865341" cy="2281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latin typeface="Georgia" panose="02040502050405020303" pitchFamily="18" charset="0"/>
                <a:ea typeface="Assistant" pitchFamily="34" charset="-122"/>
                <a:cs typeface="Assistant" pitchFamily="34" charset="0"/>
              </a:rPr>
              <a:t>Season volume rose from roughly 58 matches in 2007/08 to roughly 76 in 2013; from 2014 through 2021, most seasons clustered around 59–60 matches; by 2022–2025, the competition returned to roughly 71–74 matches per season.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8107457" y="6251575"/>
            <a:ext cx="3474653" cy="552450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Assistant" pitchFamily="34" charset="0"/>
                <a:ea typeface="Assistant" pitchFamily="34" charset="-122"/>
                <a:cs typeface="Assistant" pitchFamily="34" charset="0"/>
              </a:rPr>
              <a:t>IPL season volume has settled near the mid-70s after a long 60-match phase.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843247" y="6448425"/>
            <a:ext cx="34844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Assistant" pitchFamily="34" charset="0"/>
                <a:ea typeface="Assistant" pitchFamily="34" charset="-122"/>
                <a:cs typeface="Assistant" pitchFamily="34" charset="0"/>
              </a:rPr>
              <a:t>09</a:t>
            </a:r>
            <a:endParaRPr lang="en-US" sz="11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685" y="966471"/>
            <a:ext cx="7366015" cy="45815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0" y="2628900"/>
            <a:ext cx="7207250" cy="36576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 2"/>
          <p:cNvSpPr/>
          <p:nvPr/>
        </p:nvSpPr>
        <p:spPr>
          <a:xfrm>
            <a:off x="755650" y="950436"/>
            <a:ext cx="865505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 smtClean="0"/>
          </a:p>
          <a:p>
            <a:r>
              <a:rPr lang="en-US" dirty="0" smtClean="0">
                <a:latin typeface="Georgia" panose="02040502050405020303" pitchFamily="18" charset="0"/>
              </a:rPr>
              <a:t>22 </a:t>
            </a:r>
            <a:r>
              <a:rPr lang="en-US" dirty="0">
                <a:latin typeface="Georgia" panose="02040502050405020303" pitchFamily="18" charset="0"/>
              </a:rPr>
              <a:t>matches were settled by the D/L method, under 2% of all matches. Chasing sides won fewer of them than usual. </a:t>
            </a:r>
            <a:endParaRPr lang="en-US" dirty="0" smtClean="0">
              <a:latin typeface="Georgia" panose="02040502050405020303" pitchFamily="18" charset="0"/>
            </a:endParaRPr>
          </a:p>
          <a:p>
            <a:r>
              <a:rPr lang="en-US" dirty="0" smtClean="0">
                <a:latin typeface="Georgia" panose="02040502050405020303" pitchFamily="18" charset="0"/>
              </a:rPr>
              <a:t>With </a:t>
            </a:r>
            <a:r>
              <a:rPr lang="en-US" dirty="0">
                <a:latin typeface="Georgia" panose="02040502050405020303" pitchFamily="18" charset="0"/>
              </a:rPr>
              <a:t>22 matches, a gap of about seven points is within random variation, so it is a pattern to watch and not a finding.</a:t>
            </a:r>
            <a:endParaRPr lang="en-IN" dirty="0">
              <a:latin typeface="Georgia" panose="02040502050405020303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55650" y="398502"/>
            <a:ext cx="603723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4000" dirty="0">
                <a:latin typeface="Rubik SemiBold" panose="020B0604020202020204" charset="-79"/>
                <a:cs typeface="Rubik SemiBold" panose="020B0604020202020204" charset="-79"/>
              </a:rPr>
              <a:t>Rain-affected matches</a:t>
            </a:r>
          </a:p>
        </p:txBody>
      </p:sp>
    </p:spTree>
    <p:extLst>
      <p:ext uri="{BB962C8B-B14F-4D97-AF65-F5344CB8AC3E}">
        <p14:creationId xmlns:p14="http://schemas.microsoft.com/office/powerpoint/2010/main" val="39865518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42885" y="269627"/>
            <a:ext cx="6502237" cy="5361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>
              <a:lnSpc>
                <a:spcPct val="96000"/>
              </a:lnSpc>
            </a:pPr>
            <a:r>
              <a:rPr lang="en-IN" sz="4000" b="1" cap="all" dirty="0">
                <a:latin typeface="Rubik SemiBold" panose="020B0604020202020204" charset="-79"/>
                <a:cs typeface="Rubik SemiBold" panose="020B0604020202020204" charset="-79"/>
              </a:rPr>
              <a:t>First-innings totals</a:t>
            </a:r>
            <a:endParaRPr lang="en-US" sz="4000" dirty="0">
              <a:latin typeface="Rubik SemiBold" panose="020B0604020202020204" charset="-79"/>
              <a:cs typeface="Rubik SemiBold" panose="020B0604020202020204" charset="-79"/>
            </a:endParaRPr>
          </a:p>
        </p:txBody>
      </p:sp>
      <p:sp>
        <p:nvSpPr>
          <p:cNvPr id="4" name="Text 2"/>
          <p:cNvSpPr/>
          <p:nvPr/>
        </p:nvSpPr>
        <p:spPr>
          <a:xfrm>
            <a:off x="380762" y="825501"/>
            <a:ext cx="8966438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latin typeface="Georgia" panose="02040502050405020303" pitchFamily="18" charset="0"/>
                <a:ea typeface="Assistant" pitchFamily="34" charset="-122"/>
                <a:cs typeface="Assistant" pitchFamily="34" charset="0"/>
              </a:rPr>
              <a:t>Across 1,169 matches, the mean first-innings score was 167.0 runs. The middle 50% of scores fell between 147 and 188 runs. The observed range stretched from 56 to 287 runs.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80762" y="1476724"/>
            <a:ext cx="8864838" cy="517176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dirty="0">
                <a:latin typeface="Georgia" panose="02040502050405020303" pitchFamily="18" charset="0"/>
                <a:ea typeface="Assistant" pitchFamily="34" charset="-122"/>
                <a:cs typeface="Assistant" pitchFamily="34" charset="0"/>
              </a:rPr>
              <a:t>The scoring center of gravity is in the high 160s, with meaningful variation around it.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199722" y="6448425"/>
            <a:ext cx="75255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Assistant" pitchFamily="34" charset="0"/>
                <a:ea typeface="Assistant" pitchFamily="34" charset="-122"/>
                <a:cs typeface="Assistant" pitchFamily="34" charset="0"/>
              </a:rPr>
              <a:t>10</a:t>
            </a:r>
            <a:endParaRPr lang="en-US" sz="11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314575"/>
            <a:ext cx="8769350" cy="41338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100" y="2098675"/>
            <a:ext cx="10371452" cy="43275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 2"/>
          <p:cNvSpPr/>
          <p:nvPr/>
        </p:nvSpPr>
        <p:spPr>
          <a:xfrm>
            <a:off x="444500" y="189467"/>
            <a:ext cx="9365064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4000" b="1" cap="all" dirty="0">
                <a:solidFill>
                  <a:srgbClr val="17202F"/>
                </a:solidFill>
                <a:latin typeface="Rubik SemiBold" panose="020B0604020202020204" charset="-79"/>
                <a:cs typeface="Rubik SemiBold" panose="020B0604020202020204" charset="-79"/>
              </a:rPr>
              <a:t>Team consistency over </a:t>
            </a:r>
            <a:r>
              <a:rPr lang="en-IN" sz="4000" b="1" cap="all" dirty="0" smtClean="0">
                <a:solidFill>
                  <a:srgbClr val="17202F"/>
                </a:solidFill>
                <a:latin typeface="Rubik SemiBold" panose="020B0604020202020204" charset="-79"/>
                <a:cs typeface="Rubik SemiBold" panose="020B0604020202020204" charset="-79"/>
              </a:rPr>
              <a:t>seasons</a:t>
            </a:r>
          </a:p>
          <a:p>
            <a:r>
              <a:rPr lang="en-US" sz="1600" b="1" cap="all" dirty="0" smtClean="0">
                <a:solidFill>
                  <a:srgbClr val="17202F"/>
                </a:solidFill>
                <a:latin typeface="Rubik SemiBold" panose="020B0604020202020204" charset="-79"/>
                <a:cs typeface="Rubik SemiBold" panose="020B0604020202020204" charset="-79"/>
              </a:rPr>
              <a:t>Top 5 Teams</a:t>
            </a:r>
            <a:endParaRPr lang="en-IN" sz="1600" dirty="0">
              <a:latin typeface="Rubik SemiBold" panose="020B0604020202020204" charset="-79"/>
              <a:cs typeface="Rubik SemiBold" panose="020B0604020202020204" charset="-79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6100" y="1052482"/>
            <a:ext cx="10287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Mumbai Indians reached about 13 wins around 2013, the highest of the four lines. The flat stretch matches Chennai’s two-season suspension from the league. Outside those gaps, all four teams swing between about 3 and 13 wins a year, with no franchise holding the top spot for long.</a:t>
            </a:r>
            <a:endParaRPr lang="en-IN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93777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899" y="2273300"/>
            <a:ext cx="8122133" cy="39497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 2"/>
          <p:cNvSpPr/>
          <p:nvPr/>
        </p:nvSpPr>
        <p:spPr>
          <a:xfrm>
            <a:off x="322546" y="310634"/>
            <a:ext cx="852348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dirty="0">
                <a:latin typeface="Rubik SemiBold" panose="020B0604020202020204" charset="-79"/>
                <a:cs typeface="Rubik SemiBold" panose="020B0604020202020204" charset="-79"/>
              </a:rPr>
              <a:t>Runs margin in batting-first wins</a:t>
            </a:r>
            <a:endParaRPr lang="en-IN" sz="4000" dirty="0">
              <a:latin typeface="Rubik SemiBold" panose="020B0604020202020204" charset="-79"/>
              <a:cs typeface="Rubik SemiBold" panose="020B0604020202020204" charset="-79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22546" y="1033740"/>
            <a:ext cx="10109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Most wins by the side batting first are decided by 11 to 41 runs; a few blowouts run past </a:t>
            </a:r>
            <a:r>
              <a:rPr lang="en-US" dirty="0" smtClean="0">
                <a:latin typeface="Georgia" panose="02040502050405020303" pitchFamily="18" charset="0"/>
              </a:rPr>
              <a:t>100.</a:t>
            </a:r>
            <a:endParaRPr lang="en-IN" dirty="0">
              <a:latin typeface="Georgia" panose="02040502050405020303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22546" y="1403072"/>
            <a:ext cx="723395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531 batting-first wins  </a:t>
            </a:r>
            <a:r>
              <a:rPr lang="en-US" dirty="0" smtClean="0">
                <a:latin typeface="Georgia" panose="02040502050405020303" pitchFamily="18" charset="0"/>
              </a:rPr>
              <a:t>                    ≈</a:t>
            </a:r>
            <a:r>
              <a:rPr lang="en-US" dirty="0">
                <a:latin typeface="Georgia" panose="02040502050405020303" pitchFamily="18" charset="0"/>
              </a:rPr>
              <a:t>22 median </a:t>
            </a:r>
            <a:r>
              <a:rPr lang="en-US" dirty="0" smtClean="0">
                <a:latin typeface="Georgia" panose="02040502050405020303" pitchFamily="18" charset="0"/>
              </a:rPr>
              <a:t>margin , in runs</a:t>
            </a:r>
          </a:p>
          <a:p>
            <a:r>
              <a:rPr lang="en-US" dirty="0" smtClean="0">
                <a:latin typeface="Georgia" panose="02040502050405020303" pitchFamily="18" charset="0"/>
              </a:rPr>
              <a:t>≈</a:t>
            </a:r>
            <a:r>
              <a:rPr lang="en-US" dirty="0">
                <a:latin typeface="Georgia" panose="02040502050405020303" pitchFamily="18" charset="0"/>
              </a:rPr>
              <a:t>11–41 middle half of </a:t>
            </a:r>
            <a:r>
              <a:rPr lang="en-US" dirty="0" smtClean="0">
                <a:latin typeface="Georgia" panose="02040502050405020303" pitchFamily="18" charset="0"/>
              </a:rPr>
              <a:t>margins         </a:t>
            </a:r>
            <a:r>
              <a:rPr lang="en-US" dirty="0">
                <a:latin typeface="Georgia" panose="02040502050405020303" pitchFamily="18" charset="0"/>
              </a:rPr>
              <a:t>≈146 largest margin, in runs</a:t>
            </a:r>
            <a:endParaRPr lang="en-IN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080506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91</TotalTime>
  <Words>611</Words>
  <Application>Microsoft Office PowerPoint</Application>
  <PresentationFormat>Widescreen</PresentationFormat>
  <Paragraphs>65</Paragraphs>
  <Slides>15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Rubik ExtraBold</vt:lpstr>
      <vt:lpstr>Rubik SemiBold</vt:lpstr>
      <vt:lpstr>Calibri</vt:lpstr>
      <vt:lpstr>Georgia</vt:lpstr>
      <vt:lpstr>Arial</vt:lpstr>
      <vt:lpstr>Assistant</vt:lpstr>
      <vt:lpstr>Assistant SemiBold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Sohamita Ghoshal</dc:creator>
  <cp:lastModifiedBy>Sohamita Ghoshal</cp:lastModifiedBy>
  <cp:revision>12</cp:revision>
  <dcterms:created xsi:type="dcterms:W3CDTF">2026-10-25T11:34:41Z</dcterms:created>
  <dcterms:modified xsi:type="dcterms:W3CDTF">2026-10-25T13:08:39Z</dcterms:modified>
</cp:coreProperties>
</file>